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
</Relationships>
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86800" y="-640080"/>
            <a:ext cx="4389120" cy="2926080"/>
          </a:xfrm>
          <a:prstGeom prst="ellipse">
            <a:avLst/>
          </a:prstGeom>
          <a:solidFill>
            <a:srgbClr val="F3EAD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-731520" y="5212080"/>
            <a:ext cx="3474720" cy="2103120"/>
          </a:xfrm>
          <a:prstGeom prst="ellipse">
            <a:avLst/>
          </a:prstGeom>
          <a:solidFill>
            <a:srgbClr val="E7D1AA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85800" y="594360"/>
            <a:ext cx="658368" cy="658368"/>
          </a:xfrm>
          <a:prstGeom prst="ellipse">
            <a:avLst/>
          </a:prstGeom>
          <a:solidFill>
            <a:srgbClr val="0F8F83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2400" dirty="0" b="1">
                <a:solidFill>
                  <a:srgbClr val="FFFFFF"/>
                </a:solidFill>
                <a:latin typeface="Aptos"/>
              </a:rPr>
              <a:t>W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472184" y="69494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dirty="0" b="1">
                <a:solidFill>
                  <a:srgbClr val="101721"/>
                </a:solidFill>
                <a:latin typeface="Aptos"/>
              </a:rPr>
              <a:t>Wander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85800" y="1828800"/>
            <a:ext cx="68580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4400" dirty="0" b="1">
                <a:solidFill>
                  <a:srgbClr val="101721"/>
                </a:solidFill>
                <a:latin typeface="Aptos"/>
              </a:rPr>
              <a:t>Turn free time</a:t>
            </a:r>
          </a:p>
          <a:p>
            <a:pPr algn="l"/>
            <a:r>
              <a:rPr lang="en-US" sz="4400" dirty="0" b="1">
                <a:solidFill>
                  <a:srgbClr val="101721"/>
                </a:solidFill>
                <a:latin typeface="Aptos"/>
              </a:rPr>
              <a:t>into a route.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31520" y="4041648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dirty="0">
                <a:solidFill>
                  <a:srgbClr val="667085"/>
                </a:solidFill>
                <a:latin typeface="Aptos"/>
              </a:rPr>
              <a:t>ENT208TC · Session 2 · Group 16</a:t>
            </a:r>
          </a:p>
        </p:txBody>
      </p:sp>
      <p:sp>
        <p:nvSpPr>
          <p:cNvPr id="8" name="Shape 8"/>
          <p:cNvSpPr/>
          <p:nvPr/>
        </p:nvSpPr>
        <p:spPr>
          <a:xfrm>
            <a:off x="7818120" y="1389888"/>
            <a:ext cx="32461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FE2CE"/>
            </a:solidFill>
          </a:ln>
        </p:spPr>
      </p:sp>
      <p:sp>
        <p:nvSpPr>
          <p:cNvPr id="9" name="Shape 9"/>
          <p:cNvSpPr/>
          <p:nvPr/>
        </p:nvSpPr>
        <p:spPr>
          <a:xfrm>
            <a:off x="8156448" y="1755648"/>
            <a:ext cx="2560320" cy="384048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200" dirty="0" b="1">
                <a:solidFill>
                  <a:srgbClr val="0B6F66"/>
                </a:solidFill>
                <a:latin typeface="Aptos"/>
              </a:rPr>
              <a:t>I have 3 hours after class</a:t>
            </a:r>
          </a:p>
        </p:txBody>
      </p:sp>
      <p:sp>
        <p:nvSpPr>
          <p:cNvPr id="10" name="Shape 10"/>
          <p:cNvSpPr/>
          <p:nvPr/>
        </p:nvSpPr>
        <p:spPr>
          <a:xfrm>
            <a:off x="8156448" y="2395728"/>
            <a:ext cx="2103120" cy="384048"/>
          </a:xfrm>
          <a:prstGeom prst="roundRect">
            <a:avLst/>
          </a:prstGeom>
          <a:solidFill>
            <a:srgbClr val="101721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200" dirty="0" b="1">
                <a:solidFill>
                  <a:srgbClr val="FFFFFF"/>
                </a:solidFill>
                <a:latin typeface="Aptos"/>
              </a:rPr>
              <a:t>hotpot + park</a:t>
            </a:r>
          </a:p>
        </p:txBody>
      </p:sp>
      <p:sp>
        <p:nvSpPr>
          <p:cNvPr id="11" name="Shape 11"/>
          <p:cNvSpPr/>
          <p:nvPr/>
        </p:nvSpPr>
        <p:spPr>
          <a:xfrm>
            <a:off x="8156448" y="3218688"/>
            <a:ext cx="2542032" cy="1737360"/>
          </a:xfrm>
          <a:prstGeom prst="roundRect">
            <a:avLst/>
          </a:prstGeom>
          <a:solidFill>
            <a:srgbClr val="F7F2E9"/>
          </a:solidFill>
          <a:ln w="9525">
            <a:solidFill>
              <a:srgbClr val="EADBC2"/>
            </a:solidFill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800" dirty="0" b="1">
                <a:solidFill>
                  <a:srgbClr val="101721"/>
                </a:solidFill>
                <a:latin typeface="Aptos"/>
              </a:rPr>
              <a:t>Route A</a:t>
            </a:r>
          </a:p>
          <a:p>
            <a:pPr algn="ctr"/>
            <a:r>
              <a:rPr lang="en-US" sz="1800" dirty="0" b="1">
                <a:solidFill>
                  <a:srgbClr val="101721"/>
                </a:solidFill>
                <a:latin typeface="Aptos"/>
              </a:rPr>
              <a:t>Hotpot · Park · Home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75488"/>
            <a:ext cx="658368" cy="658368"/>
          </a:xfrm>
          <a:prstGeom prst="ellipse">
            <a:avLst/>
          </a:prstGeom>
          <a:solidFill>
            <a:srgbClr val="0F8F83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2400" dirty="0" b="1">
                <a:solidFill>
                  <a:srgbClr val="FFFFFF"/>
                </a:solidFill>
                <a:latin typeface="Aptos"/>
              </a:rPr>
              <a:t>W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444752" y="57607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dirty="0" b="1">
                <a:solidFill>
                  <a:srgbClr val="101721"/>
                </a:solidFill>
                <a:latin typeface="Aptos"/>
              </a:rPr>
              <a:t>Wander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225296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dirty="0" b="1">
                <a:solidFill>
                  <a:srgbClr val="0B6F66"/>
                </a:solidFill>
                <a:latin typeface="Aptos"/>
              </a:rPr>
              <a:t>The problem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82880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400" dirty="0" b="1">
                <a:solidFill>
                  <a:srgbClr val="101721"/>
                </a:solidFill>
                <a:latin typeface="Aptos"/>
              </a:rPr>
              <a:t>A spontaneous outing</a:t>
            </a:r>
          </a:p>
          <a:p>
            <a:pPr algn="l"/>
            <a:r>
              <a:rPr lang="en-US" sz="3400" dirty="0" b="1">
                <a:solidFill>
                  <a:srgbClr val="101721"/>
                </a:solidFill>
                <a:latin typeface="Aptos"/>
              </a:rPr>
              <a:t>still needs too much planning.</a:t>
            </a:r>
          </a:p>
        </p:txBody>
      </p:sp>
      <p:sp>
        <p:nvSpPr>
          <p:cNvPr id="6" name="Shape 6"/>
          <p:cNvSpPr/>
          <p:nvPr/>
        </p:nvSpPr>
        <p:spPr>
          <a:xfrm>
            <a:off x="7086600" y="1234440"/>
            <a:ext cx="388620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7C4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424928" y="1737360"/>
            <a:ext cx="31546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dirty="0">
                <a:solidFill>
                  <a:srgbClr val="101721"/>
                </a:solidFill>
                <a:latin typeface="Aptos"/>
              </a:rPr>
              <a:t>“I just want to go somewhere after class,</a:t>
            </a:r>
          </a:p>
          <a:p>
            <a:pPr algn="l"/>
            <a:r>
              <a:rPr lang="en-US" sz="2000" dirty="0">
                <a:solidFill>
                  <a:srgbClr val="101721"/>
                </a:solidFill>
                <a:latin typeface="Aptos"/>
              </a:rPr>
              <a:t>but I need content, maps and reviews</a:t>
            </a:r>
          </a:p>
          <a:p>
            <a:pPr algn="l"/>
            <a:r>
              <a:rPr lang="en-US" sz="2000" dirty="0">
                <a:solidFill>
                  <a:srgbClr val="101721"/>
                </a:solidFill>
                <a:latin typeface="Aptos"/>
              </a:rPr>
              <a:t>before I can leave.”</a:t>
            </a:r>
          </a:p>
        </p:txBody>
      </p:sp>
      <p:sp>
        <p:nvSpPr>
          <p:cNvPr id="8" name="Shape 8"/>
          <p:cNvSpPr/>
          <p:nvPr/>
        </p:nvSpPr>
        <p:spPr>
          <a:xfrm>
            <a:off x="914400" y="4773168"/>
            <a:ext cx="2011680" cy="512064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600" dirty="0" b="1">
                <a:solidFill>
                  <a:srgbClr val="0B6F66"/>
                </a:solidFill>
                <a:latin typeface="Aptos"/>
              </a:rPr>
              <a:t>Discovery</a:t>
            </a:r>
          </a:p>
        </p:txBody>
      </p:sp>
      <p:sp>
        <p:nvSpPr>
          <p:cNvPr id="9" name="Shape 9"/>
          <p:cNvSpPr/>
          <p:nvPr/>
        </p:nvSpPr>
        <p:spPr>
          <a:xfrm>
            <a:off x="3273552" y="4773168"/>
            <a:ext cx="2011680" cy="512064"/>
          </a:xfrm>
          <a:prstGeom prst="roundRect">
            <a:avLst/>
          </a:prstGeom>
          <a:solidFill>
            <a:srgbClr val="F7E7CF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600" dirty="0" b="1">
                <a:solidFill>
                  <a:srgbClr val="101721"/>
                </a:solidFill>
                <a:latin typeface="Aptos"/>
              </a:rPr>
              <a:t>Verification</a:t>
            </a:r>
          </a:p>
        </p:txBody>
      </p:sp>
      <p:sp>
        <p:nvSpPr>
          <p:cNvPr id="10" name="Shape 10"/>
          <p:cNvSpPr/>
          <p:nvPr/>
        </p:nvSpPr>
        <p:spPr>
          <a:xfrm>
            <a:off x="5632704" y="4773168"/>
            <a:ext cx="2011680" cy="512064"/>
          </a:xfrm>
          <a:prstGeom prst="roundRect">
            <a:avLst/>
          </a:prstGeom>
          <a:solidFill>
            <a:srgbClr val="E9EEF2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600" dirty="0" b="1">
                <a:solidFill>
                  <a:srgbClr val="101721"/>
                </a:solidFill>
                <a:latin typeface="Aptos"/>
              </a:rPr>
              <a:t>Navigation</a:t>
            </a:r>
          </a:p>
        </p:txBody>
      </p:sp>
      <p:sp>
        <p:nvSpPr>
          <p:cNvPr id="11" name="Shape 11"/>
          <p:cNvSpPr/>
          <p:nvPr/>
        </p:nvSpPr>
        <p:spPr>
          <a:xfrm>
            <a:off x="7991856" y="4773168"/>
            <a:ext cx="2011680" cy="512064"/>
          </a:xfrm>
          <a:prstGeom prst="roundRect">
            <a:avLst/>
          </a:prstGeom>
          <a:solidFill>
            <a:srgbClr val="F0D7D0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600" dirty="0" b="1">
                <a:solidFill>
                  <a:srgbClr val="101721"/>
                </a:solidFill>
                <a:latin typeface="Aptos"/>
              </a:rPr>
              <a:t>Manual timing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75488"/>
            <a:ext cx="658368" cy="658368"/>
          </a:xfrm>
          <a:prstGeom prst="ellipse">
            <a:avLst/>
          </a:prstGeom>
          <a:solidFill>
            <a:srgbClr val="0F8F83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2400" dirty="0" b="1">
                <a:solidFill>
                  <a:srgbClr val="FFFFFF"/>
                </a:solidFill>
                <a:latin typeface="Aptos"/>
              </a:rPr>
              <a:t>W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444752" y="57607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dirty="0" b="1">
                <a:solidFill>
                  <a:srgbClr val="101721"/>
                </a:solidFill>
                <a:latin typeface="Aptos"/>
              </a:rPr>
              <a:t>Wander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207008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dirty="0" b="1">
                <a:solidFill>
                  <a:srgbClr val="0B6F66"/>
                </a:solidFill>
                <a:latin typeface="Aptos"/>
              </a:rPr>
              <a:t>What we built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847088"/>
            <a:ext cx="74980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400" dirty="0" b="1">
                <a:solidFill>
                  <a:srgbClr val="101721"/>
                </a:solidFill>
                <a:latin typeface="Aptos"/>
              </a:rPr>
              <a:t>Wander turns one sentence into three real route options.</a:t>
            </a:r>
          </a:p>
        </p:txBody>
      </p:sp>
      <p:sp>
        <p:nvSpPr>
          <p:cNvPr id="6" name="Shape 6"/>
          <p:cNvSpPr/>
          <p:nvPr/>
        </p:nvSpPr>
        <p:spPr>
          <a:xfrm>
            <a:off x="868680" y="3694176"/>
            <a:ext cx="24231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DAC7"/>
            </a:solidFill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800" dirty="0" b="1">
                <a:solidFill>
                  <a:srgbClr val="101721"/>
                </a:solidFill>
                <a:latin typeface="Aptos"/>
              </a:rPr>
              <a:t>Natural language</a:t>
            </a:r>
          </a:p>
        </p:txBody>
      </p:sp>
      <p:sp>
        <p:nvSpPr>
          <p:cNvPr id="7" name="Shape 7"/>
          <p:cNvSpPr/>
          <p:nvPr/>
        </p:nvSpPr>
        <p:spPr>
          <a:xfrm>
            <a:off x="3703320" y="3694176"/>
            <a:ext cx="24231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DAC7"/>
            </a:solidFill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800" dirty="0" b="1">
                <a:solidFill>
                  <a:srgbClr val="101721"/>
                </a:solidFill>
                <a:latin typeface="Aptos"/>
              </a:rPr>
              <a:t>Qwen intent</a:t>
            </a:r>
          </a:p>
        </p:txBody>
      </p:sp>
      <p:sp>
        <p:nvSpPr>
          <p:cNvPr id="8" name="Shape 8"/>
          <p:cNvSpPr/>
          <p:nvPr/>
        </p:nvSpPr>
        <p:spPr>
          <a:xfrm>
            <a:off x="6537960" y="3694176"/>
            <a:ext cx="24231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DAC7"/>
            </a:solidFill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800" dirty="0" b="1">
                <a:solidFill>
                  <a:srgbClr val="101721"/>
                </a:solidFill>
                <a:latin typeface="Aptos"/>
              </a:rPr>
              <a:t>AMap POIs</a:t>
            </a:r>
          </a:p>
        </p:txBody>
      </p:sp>
      <p:sp>
        <p:nvSpPr>
          <p:cNvPr id="9" name="Shape 9"/>
          <p:cNvSpPr/>
          <p:nvPr/>
        </p:nvSpPr>
        <p:spPr>
          <a:xfrm>
            <a:off x="9372600" y="3694176"/>
            <a:ext cx="2423160" cy="868680"/>
          </a:xfrm>
          <a:prstGeom prst="roundRect">
            <a:avLst/>
          </a:prstGeom>
          <a:solidFill>
            <a:srgbClr val="0F8F83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700" dirty="0" b="1">
                <a:solidFill>
                  <a:srgbClr val="FFFFFF"/>
                </a:solidFill>
                <a:latin typeface="Aptos"/>
              </a:rPr>
              <a:t>Executable routes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355848" y="39044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400" dirty="0" b="1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190488" y="39044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400" dirty="0" b="1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9034272" y="39044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400" dirty="0" b="1">
                <a:solidFill>
                  <a:srgbClr val="667085"/>
                </a:solidFill>
                <a:latin typeface="Aptos"/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75488"/>
            <a:ext cx="658368" cy="658368"/>
          </a:xfrm>
          <a:prstGeom prst="ellipse">
            <a:avLst/>
          </a:prstGeom>
          <a:solidFill>
            <a:srgbClr val="0F8F83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2400" dirty="0" b="1">
                <a:solidFill>
                  <a:srgbClr val="FFFFFF"/>
                </a:solidFill>
                <a:latin typeface="Aptos"/>
              </a:rPr>
              <a:t>W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444752" y="57607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dirty="0" b="1">
                <a:solidFill>
                  <a:srgbClr val="101721"/>
                </a:solidFill>
                <a:latin typeface="Aptos"/>
              </a:rPr>
              <a:t>Wander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115568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dirty="0" b="1">
                <a:solidFill>
                  <a:srgbClr val="0B6F66"/>
                </a:solidFill>
                <a:latin typeface="Aptos"/>
              </a:rPr>
              <a:t>Demo backup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700784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400" dirty="0" b="1">
                <a:solidFill>
                  <a:srgbClr val="101721"/>
                </a:solidFill>
                <a:latin typeface="Aptos"/>
              </a:rPr>
              <a:t>Home → generate → choose route</a:t>
            </a:r>
          </a:p>
        </p:txBody>
      </p:sp>
      <p:sp>
        <p:nvSpPr>
          <p:cNvPr id="6" name="Shape 6"/>
          <p:cNvSpPr/>
          <p:nvPr/>
        </p:nvSpPr>
        <p:spPr>
          <a:xfrm>
            <a:off x="749808" y="2615184"/>
            <a:ext cx="3429000" cy="342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DAC7"/>
            </a:solidFill>
          </a:ln>
        </p:spPr>
      </p:sp>
      <p:sp>
        <p:nvSpPr>
          <p:cNvPr id="7" name="Shape 7"/>
          <p:cNvSpPr/>
          <p:nvPr/>
        </p:nvSpPr>
        <p:spPr>
          <a:xfrm>
            <a:off x="960120" y="2816352"/>
            <a:ext cx="3008376" cy="1828800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2121408" y="3401568"/>
            <a:ext cx="310896" cy="310896"/>
          </a:xfrm>
          <a:prstGeom prst="ellipse">
            <a:avLst/>
          </a:prstGeom>
          <a:solidFill>
            <a:srgbClr val="0F8F83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960120" y="4864608"/>
            <a:ext cx="3008376" cy="512064"/>
          </a:xfrm>
          <a:prstGeom prst="roundRect">
            <a:avLst/>
          </a:prstGeom>
          <a:solidFill>
            <a:srgbClr val="F7F2E9"/>
          </a:solidFill>
          <a:ln w="9525">
            <a:solidFill>
              <a:srgbClr val="E7DAC7"/>
            </a:solidFill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200" dirty="0" b="1">
                <a:solidFill>
                  <a:srgbClr val="101721"/>
                </a:solidFill>
                <a:latin typeface="Aptos"/>
              </a:rPr>
              <a:t>Start near XJTLU Taicang</a:t>
            </a:r>
          </a:p>
        </p:txBody>
      </p:sp>
      <p:sp>
        <p:nvSpPr>
          <p:cNvPr id="10" name="Shape 10"/>
          <p:cNvSpPr/>
          <p:nvPr/>
        </p:nvSpPr>
        <p:spPr>
          <a:xfrm>
            <a:off x="4498848" y="2615184"/>
            <a:ext cx="3429000" cy="342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DAC7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773168" y="2971800"/>
            <a:ext cx="2880360" cy="987552"/>
          </a:xfrm>
          <a:prstGeom prst="roundRect">
            <a:avLst/>
          </a:prstGeom>
          <a:solidFill>
            <a:srgbClr val="F7F2E9"/>
          </a:solidFill>
          <a:ln w="9525">
            <a:solidFill>
              <a:srgbClr val="E7DAC7"/>
            </a:solidFill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600" dirty="0" b="1">
                <a:solidFill>
                  <a:srgbClr val="101721"/>
                </a:solidFill>
                <a:latin typeface="Aptos"/>
              </a:rPr>
              <a:t>I want hotpot, a movie,</a:t>
            </a:r>
          </a:p>
          <a:p>
            <a:pPr algn="ctr"/>
            <a:r>
              <a:rPr lang="en-US" sz="1600" dirty="0" b="1">
                <a:solidFill>
                  <a:srgbClr val="101721"/>
                </a:solidFill>
                <a:latin typeface="Aptos"/>
              </a:rPr>
              <a:t>then a park walk.</a:t>
            </a:r>
          </a:p>
        </p:txBody>
      </p:sp>
      <p:sp>
        <p:nvSpPr>
          <p:cNvPr id="12" name="Shape 12"/>
          <p:cNvSpPr/>
          <p:nvPr/>
        </p:nvSpPr>
        <p:spPr>
          <a:xfrm>
            <a:off x="4773168" y="4242816"/>
            <a:ext cx="868680" cy="475488"/>
          </a:xfrm>
          <a:prstGeom prst="roundRect">
            <a:avLst/>
          </a:prstGeom>
          <a:solidFill>
            <a:srgbClr val="101721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Aptos"/>
              </a:rPr>
              <a:t>3h</a:t>
            </a:r>
          </a:p>
        </p:txBody>
      </p:sp>
      <p:sp>
        <p:nvSpPr>
          <p:cNvPr id="13" name="Shape 13"/>
          <p:cNvSpPr/>
          <p:nvPr/>
        </p:nvSpPr>
        <p:spPr>
          <a:xfrm>
            <a:off x="5833872" y="4242816"/>
            <a:ext cx="868680" cy="475488"/>
          </a:xfrm>
          <a:prstGeom prst="roundRect">
            <a:avLst/>
          </a:prstGeom>
          <a:solidFill>
            <a:srgbClr val="0F8F83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Aptos"/>
              </a:rPr>
              <a:t>Taxi</a:t>
            </a:r>
          </a:p>
        </p:txBody>
      </p:sp>
      <p:sp>
        <p:nvSpPr>
          <p:cNvPr id="14" name="Shape 14"/>
          <p:cNvSpPr/>
          <p:nvPr/>
        </p:nvSpPr>
        <p:spPr>
          <a:xfrm>
            <a:off x="8247888" y="2615184"/>
            <a:ext cx="3429000" cy="342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DAC7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522208" y="2907792"/>
            <a:ext cx="2880360" cy="658368"/>
          </a:xfrm>
          <a:prstGeom prst="roundRect">
            <a:avLst/>
          </a:prstGeom>
          <a:solidFill>
            <a:srgbClr val="0F8F83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700" dirty="0" b="1">
                <a:solidFill>
                  <a:srgbClr val="FFFFFF"/>
                </a:solidFill>
                <a:latin typeface="Aptos"/>
              </a:rPr>
              <a:t>Route 1</a:t>
            </a:r>
          </a:p>
        </p:txBody>
      </p:sp>
      <p:sp>
        <p:nvSpPr>
          <p:cNvPr id="16" name="Shape 16"/>
          <p:cNvSpPr/>
          <p:nvPr/>
        </p:nvSpPr>
        <p:spPr>
          <a:xfrm>
            <a:off x="8522208" y="3767328"/>
            <a:ext cx="2880360" cy="658368"/>
          </a:xfrm>
          <a:prstGeom prst="roundRect">
            <a:avLst/>
          </a:prstGeom>
          <a:solidFill>
            <a:srgbClr val="F7F2E9"/>
          </a:solidFill>
          <a:ln w="9525">
            <a:solidFill>
              <a:srgbClr val="E7DAC7"/>
            </a:solidFill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700" dirty="0" b="1">
                <a:solidFill>
                  <a:srgbClr val="101721"/>
                </a:solidFill>
                <a:latin typeface="Aptos"/>
              </a:rPr>
              <a:t>Route 2</a:t>
            </a:r>
          </a:p>
        </p:txBody>
      </p:sp>
      <p:sp>
        <p:nvSpPr>
          <p:cNvPr id="17" name="Shape 17"/>
          <p:cNvSpPr/>
          <p:nvPr/>
        </p:nvSpPr>
        <p:spPr>
          <a:xfrm>
            <a:off x="8522208" y="4626864"/>
            <a:ext cx="2880360" cy="658368"/>
          </a:xfrm>
          <a:prstGeom prst="roundRect">
            <a:avLst/>
          </a:prstGeom>
          <a:solidFill>
            <a:srgbClr val="F7F2E9"/>
          </a:solidFill>
          <a:ln w="9525">
            <a:solidFill>
              <a:srgbClr val="E7DAC7"/>
            </a:solidFill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700" dirty="0" b="1">
                <a:solidFill>
                  <a:srgbClr val="101721"/>
                </a:solidFill>
                <a:latin typeface="Aptos"/>
              </a:rPr>
              <a:t>Route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75488"/>
            <a:ext cx="658368" cy="658368"/>
          </a:xfrm>
          <a:prstGeom prst="ellipse">
            <a:avLst/>
          </a:prstGeom>
          <a:solidFill>
            <a:srgbClr val="0F8F83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2400" dirty="0" b="1">
                <a:solidFill>
                  <a:srgbClr val="FFFFFF"/>
                </a:solidFill>
                <a:latin typeface="Aptos"/>
              </a:rPr>
              <a:t>W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444752" y="57607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dirty="0" b="1">
                <a:solidFill>
                  <a:srgbClr val="101721"/>
                </a:solidFill>
                <a:latin typeface="Aptos"/>
              </a:rPr>
              <a:t>Wander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170432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dirty="0" b="1">
                <a:solidFill>
                  <a:srgbClr val="0B6F66"/>
                </a:solidFill>
                <a:latin typeface="Aptos"/>
              </a:rPr>
              <a:t>Validation evidence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773936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400" dirty="0" b="1">
                <a:solidFill>
                  <a:srgbClr val="101721"/>
                </a:solidFill>
                <a:latin typeface="Aptos"/>
              </a:rPr>
              <a:t>Before / after from product testing</a:t>
            </a:r>
          </a:p>
        </p:txBody>
      </p:sp>
      <p:sp>
        <p:nvSpPr>
          <p:cNvPr id="6" name="Shape 6"/>
          <p:cNvSpPr/>
          <p:nvPr/>
        </p:nvSpPr>
        <p:spPr>
          <a:xfrm>
            <a:off x="822960" y="2743200"/>
            <a:ext cx="489204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DAC7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1115568" y="3035808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dirty="0" b="1">
                <a:solidFill>
                  <a:srgbClr val="667085"/>
                </a:solidFill>
                <a:latin typeface="Aptos"/>
              </a:rPr>
              <a:t>Before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115568" y="361188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400" dirty="0" b="1">
                <a:solidFill>
                  <a:srgbClr val="101721"/>
                </a:solidFill>
                <a:latin typeface="Aptos"/>
              </a:rPr>
              <a:t>Users switched between apps</a:t>
            </a:r>
          </a:p>
          <a:p>
            <a:pPr algn="l"/>
            <a:r>
              <a:rPr lang="en-US" sz="2400" dirty="0" b="1">
                <a:solidFill>
                  <a:srgbClr val="101721"/>
                </a:solidFill>
                <a:latin typeface="Aptos"/>
              </a:rPr>
              <a:t>and manually estimated timing.</a:t>
            </a:r>
          </a:p>
        </p:txBody>
      </p:sp>
      <p:sp>
        <p:nvSpPr>
          <p:cNvPr id="9" name="Shape 9"/>
          <p:cNvSpPr/>
          <p:nvPr/>
        </p:nvSpPr>
        <p:spPr>
          <a:xfrm>
            <a:off x="6446520" y="2743200"/>
            <a:ext cx="4892040" cy="2377440"/>
          </a:xfrm>
          <a:prstGeom prst="roundRect">
            <a:avLst/>
          </a:prstGeom>
          <a:solidFill>
            <a:srgbClr val="0F8F83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6748272" y="3035808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dirty="0" b="1">
                <a:solidFill>
                  <a:srgbClr val="D7FFF7"/>
                </a:solidFill>
                <a:latin typeface="Aptos"/>
              </a:rPr>
              <a:t>After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748272" y="361188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400" dirty="0" b="1">
                <a:solidFill>
                  <a:srgbClr val="FFFFFF"/>
                </a:solidFill>
                <a:latin typeface="Aptos"/>
              </a:rPr>
              <a:t>One flow: locate, describe,</a:t>
            </a:r>
          </a:p>
          <a:p>
            <a:pPr algn="l"/>
            <a:r>
              <a:rPr lang="en-US" sz="2400" dirty="0" b="1">
                <a:solidFill>
                  <a:srgbClr val="FFFFFF"/>
                </a:solidFill>
                <a:latin typeface="Aptos"/>
              </a:rPr>
              <a:t>choose an executable route.</a:t>
            </a:r>
          </a:p>
        </p:txBody>
      </p:sp>
      <p:sp>
        <p:nvSpPr>
          <p:cNvPr id="12" name="Shape 12"/>
          <p:cNvSpPr/>
          <p:nvPr/>
        </p:nvSpPr>
        <p:spPr>
          <a:xfrm>
            <a:off x="1051560" y="5522976"/>
            <a:ext cx="2194560" cy="457200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400" dirty="0" b="1">
                <a:solidFill>
                  <a:srgbClr val="0B6F66"/>
                </a:solidFill>
                <a:latin typeface="Aptos"/>
              </a:rPr>
              <a:t>3 route options</a:t>
            </a:r>
          </a:p>
        </p:txBody>
      </p:sp>
      <p:sp>
        <p:nvSpPr>
          <p:cNvPr id="13" name="Shape 13"/>
          <p:cNvSpPr/>
          <p:nvPr/>
        </p:nvSpPr>
        <p:spPr>
          <a:xfrm>
            <a:off x="3474720" y="5522976"/>
            <a:ext cx="2194560" cy="457200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400" dirty="0" b="1">
                <a:solidFill>
                  <a:srgbClr val="0B6F66"/>
                </a:solidFill>
                <a:latin typeface="Aptos"/>
              </a:rPr>
              <a:t>real POIs</a:t>
            </a:r>
          </a:p>
        </p:txBody>
      </p:sp>
      <p:sp>
        <p:nvSpPr>
          <p:cNvPr id="14" name="Shape 14"/>
          <p:cNvSpPr/>
          <p:nvPr/>
        </p:nvSpPr>
        <p:spPr>
          <a:xfrm>
            <a:off x="5897880" y="5522976"/>
            <a:ext cx="2194560" cy="457200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400" dirty="0" b="1">
                <a:solidFill>
                  <a:srgbClr val="0B6F66"/>
                </a:solidFill>
                <a:latin typeface="Aptos"/>
              </a:rPr>
              <a:t>map navigation</a:t>
            </a:r>
          </a:p>
        </p:txBody>
      </p:sp>
      <p:sp>
        <p:nvSpPr>
          <p:cNvPr id="15" name="Shape 15"/>
          <p:cNvSpPr/>
          <p:nvPr/>
        </p:nvSpPr>
        <p:spPr>
          <a:xfrm>
            <a:off x="8321040" y="5522976"/>
            <a:ext cx="2194560" cy="457200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1400" dirty="0" b="1">
                <a:solidFill>
                  <a:srgbClr val="0B6F66"/>
                </a:solidFill>
                <a:latin typeface="Aptos"/>
              </a:rPr>
              <a:t>profile login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75488"/>
            <a:ext cx="658368" cy="658368"/>
          </a:xfrm>
          <a:prstGeom prst="ellipse">
            <a:avLst/>
          </a:prstGeom>
          <a:solidFill>
            <a:srgbClr val="0F8F83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2400" dirty="0" b="1">
                <a:solidFill>
                  <a:srgbClr val="FFFFFF"/>
                </a:solidFill>
                <a:latin typeface="Aptos"/>
              </a:rPr>
              <a:t>W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444752" y="57607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dirty="0" b="1">
                <a:solidFill>
                  <a:srgbClr val="101721"/>
                </a:solidFill>
                <a:latin typeface="Aptos"/>
              </a:rPr>
              <a:t>Wander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170432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dirty="0" b="1">
                <a:solidFill>
                  <a:srgbClr val="0B6F66"/>
                </a:solidFill>
                <a:latin typeface="Aptos"/>
              </a:rPr>
              <a:t>What testing changed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773936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400" dirty="0" b="1">
                <a:solidFill>
                  <a:srgbClr val="101721"/>
                </a:solidFill>
                <a:latin typeface="Aptos"/>
              </a:rPr>
              <a:t>Specific findings → product changes</a:t>
            </a:r>
          </a:p>
        </p:txBody>
      </p:sp>
      <p:sp>
        <p:nvSpPr>
          <p:cNvPr id="6" name="Shape 6"/>
          <p:cNvSpPr/>
          <p:nvPr/>
        </p:nvSpPr>
        <p:spPr>
          <a:xfrm>
            <a:off x="822960" y="2852928"/>
            <a:ext cx="333756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DAC7"/>
            </a:solidFill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2000" dirty="0" b="1">
                <a:solidFill>
                  <a:srgbClr val="101721"/>
                </a:solidFill>
                <a:latin typeface="Aptos"/>
              </a:rPr>
              <a:t>Location drift</a:t>
            </a:r>
          </a:p>
          <a:p>
            <a:pPr algn="ctr"/>
            <a:r>
              <a:rPr lang="en-US" sz="2000" dirty="0" b="1">
                <a:solidFill>
                  <a:srgbClr val="101721"/>
                </a:solidFill>
                <a:latin typeface="Aptos"/>
              </a:rPr>
              <a:t>manual map pick + address search</a:t>
            </a:r>
          </a:p>
        </p:txBody>
      </p:sp>
      <p:sp>
        <p:nvSpPr>
          <p:cNvPr id="7" name="Shape 7"/>
          <p:cNvSpPr/>
          <p:nvPr/>
        </p:nvSpPr>
        <p:spPr>
          <a:xfrm>
            <a:off x="4434840" y="2852928"/>
            <a:ext cx="333756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DAC7"/>
            </a:solidFill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2000" dirty="0" b="1">
                <a:solidFill>
                  <a:srgbClr val="101721"/>
                </a:solidFill>
                <a:latin typeface="Aptos"/>
              </a:rPr>
              <a:t>Generic routes</a:t>
            </a:r>
          </a:p>
          <a:p>
            <a:pPr algn="ctr"/>
            <a:r>
              <a:rPr lang="en-US" sz="2000" dirty="0" b="1">
                <a:solidFill>
                  <a:srgbClr val="101721"/>
                </a:solidFill>
                <a:latin typeface="Aptos"/>
              </a:rPr>
              <a:t>keyword intent + real POI scoring</a:t>
            </a:r>
          </a:p>
        </p:txBody>
      </p:sp>
      <p:sp>
        <p:nvSpPr>
          <p:cNvPr id="8" name="Shape 8"/>
          <p:cNvSpPr/>
          <p:nvPr/>
        </p:nvSpPr>
        <p:spPr>
          <a:xfrm>
            <a:off x="8046720" y="2852928"/>
            <a:ext cx="333756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DAC7"/>
            </a:solidFill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2000" dirty="0" b="1">
                <a:solidFill>
                  <a:srgbClr val="101721"/>
                </a:solidFill>
                <a:latin typeface="Aptos"/>
              </a:rPr>
              <a:t>Interrupted planning</a:t>
            </a:r>
          </a:p>
          <a:p>
            <a:pPr algn="ctr"/>
            <a:r>
              <a:rPr lang="en-US" sz="2000" dirty="0" b="1">
                <a:solidFill>
                  <a:srgbClr val="101721"/>
                </a:solidFill>
                <a:latin typeface="Aptos"/>
              </a:rPr>
              <a:t>persistent background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75488"/>
            <a:ext cx="658368" cy="658368"/>
          </a:xfrm>
          <a:prstGeom prst="ellipse">
            <a:avLst/>
          </a:prstGeom>
          <a:solidFill>
            <a:srgbClr val="0F8F83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ctr"/>
            <a:r>
              <a:rPr lang="en-US" sz="2400" dirty="0" b="1">
                <a:solidFill>
                  <a:srgbClr val="FFFFFF"/>
                </a:solidFill>
                <a:latin typeface="Aptos"/>
              </a:rPr>
              <a:t>W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444752" y="57607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dirty="0" b="1">
                <a:solidFill>
                  <a:srgbClr val="101721"/>
                </a:solidFill>
                <a:latin typeface="Aptos"/>
              </a:rPr>
              <a:t>Wander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207008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dirty="0" b="1">
                <a:solidFill>
                  <a:srgbClr val="0B6F66"/>
                </a:solidFill>
                <a:latin typeface="Aptos"/>
              </a:rPr>
              <a:t>What comes next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82880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400" dirty="0" b="1">
                <a:solidFill>
                  <a:srgbClr val="101721"/>
                </a:solidFill>
                <a:latin typeface="Aptos"/>
              </a:rPr>
              <a:t>Make route generation reliable enough for real use.</a:t>
            </a:r>
          </a:p>
        </p:txBody>
      </p:sp>
      <p:sp>
        <p:nvSpPr>
          <p:cNvPr id="6" name="Shape 6"/>
          <p:cNvSpPr/>
          <p:nvPr/>
        </p:nvSpPr>
        <p:spPr>
          <a:xfrm>
            <a:off x="868680" y="3246120"/>
            <a:ext cx="48920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DAC7"/>
            </a:solidFill>
          </a:ln>
        </p:spPr>
        <p:txBody>
          <a:bodyPr wrap="square" lIns="90000" tIns="90000" rIns="90000" bIns="90000" anchor="mid"/>
          <a:lstStyle/>
          <a:p>
            <a:pPr algn="l"/>
            <a:r>
              <a:rPr lang="en-US" sz="2200" dirty="0" b="1">
                <a:solidFill>
                  <a:srgbClr val="101721"/>
                </a:solidFill>
                <a:latin typeface="Aptos"/>
              </a:rPr>
              <a:t>Current limitation</a:t>
            </a:r>
          </a:p>
          <a:p>
            <a:pPr algn="l"/>
            <a:r>
              <a:rPr lang="en-US" sz="2200" dirty="0" b="1">
                <a:solidFill>
                  <a:srgbClr val="101721"/>
                </a:solidFill>
                <a:latin typeface="Aptos"/>
              </a:rPr>
              <a:t>External API latency and quota can still affect route generation.</a:t>
            </a:r>
          </a:p>
        </p:txBody>
      </p:sp>
      <p:sp>
        <p:nvSpPr>
          <p:cNvPr id="7" name="Shape 7"/>
          <p:cNvSpPr/>
          <p:nvPr/>
        </p:nvSpPr>
        <p:spPr>
          <a:xfrm>
            <a:off x="6400800" y="3246120"/>
            <a:ext cx="4892040" cy="1508760"/>
          </a:xfrm>
          <a:prstGeom prst="roundRect">
            <a:avLst/>
          </a:prstGeom>
          <a:solidFill>
            <a:srgbClr val="0F8F83"/>
          </a:solidFill>
          <a:ln>
            <a:noFill/>
          </a:ln>
        </p:spPr>
        <p:txBody>
          <a:bodyPr wrap="square" lIns="90000" tIns="90000" rIns="90000" bIns="90000" anchor="mid"/>
          <a:lstStyle/>
          <a:p>
            <a:pPr algn="l"/>
            <a:r>
              <a:rPr lang="en-US" sz="2200" dirty="0" b="1">
                <a:solidFill>
                  <a:srgbClr val="FFFFFF"/>
                </a:solidFill>
                <a:latin typeface="Aptos"/>
              </a:rPr>
              <a:t>Next step</a:t>
            </a:r>
          </a:p>
          <a:p>
            <a:pPr algn="l"/>
            <a:r>
              <a:rPr lang="en-US" sz="2200" dirty="0" b="1">
                <a:solidFill>
                  <a:srgbClr val="FFFFFF"/>
                </a:solidFill>
                <a:latin typeface="Aptos"/>
              </a:rPr>
              <a:t>Add job queue, POI cache and route-quality monitoring.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68680" y="574243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dirty="0">
                <a:solidFill>
                  <a:srgbClr val="667085"/>
                </a:solidFill>
                <a:latin typeface="Aptos"/>
              </a:rPr>
              <a:t>Demo: wander-web-4pki.onrender.com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nder">
  <a:themeElements>
    <a:clrScheme name="Wander">
      <a:dk1>
        <a:srgbClr val="101721"/>
      </a:dk1>
      <a:lt1>
        <a:srgbClr val="FFF8EF"/>
      </a:lt1>
      <a:dk2>
        <a:srgbClr val="0B6F66"/>
      </a:dk2>
      <a:lt2>
        <a:srgbClr val="F3EADB"/>
      </a:lt2>
      <a:accent1>
        <a:srgbClr val="0F8F83"/>
      </a:accent1>
      <a:accent2>
        <a:srgbClr val="D7B98D"/>
      </a:accent2>
      <a:accent3>
        <a:srgbClr val="E8F5F2"/>
      </a:accent3>
      <a:accent4>
        <a:srgbClr val="F7E7CF"/>
      </a:accent4>
      <a:accent5>
        <a:srgbClr val="E9EEF2"/>
      </a:accent5>
      <a:accent6>
        <a:srgbClr val="F0D7D0"/>
      </a:accent6>
      <a:hlink>
        <a:srgbClr val="0F8F83"/>
      </a:hlink>
      <a:folHlink>
        <a:srgbClr val="0B6F66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Wander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Wander</Application>
  <PresentationFormat>On-screen Show (16:9)</PresentationFormat>
  <Slides>7</Slides>
  <Company>Group 16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Wander Demo Day</dc:title>
  <dc:creator>Wander Group 16</dc:creator>
  <cp:lastModifiedBy>Codex</cp:lastModifiedBy>
  <dcterms:created xsi:type="dcterms:W3CDTF">2026-05-05T08:50:38+00:00</dcterms:created>
  <dcterms:modified xsi:type="dcterms:W3CDTF">2026-05-05T08:50:38+00:00</dcterms:modified>
</cp:coreProperties>
</file>